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use-case diagram for the report subsystem. Registered User is the only actor, and they directly trigger five use cases: set the date range, filter by incident type, pan/zoom the viewport, generate the report, and download the PDF.</a:t>
            </a:r>
          </a:p>
          <a:p/>
          <a:p>
            <a:r>
              <a:t>Generate Report then 'includes' five backend operations — filter by bounds, filter by date, render the map snapshot, generate the charts, assemble the PDF. Those five aren't something the user watches happen one at a time; they're backend responsibilities that all fire inside that one request from the previous slide.</a:t>
            </a:r>
          </a:p>
          <a:p/>
          <a:p>
            <a:r>
              <a:t>The part I want to flag is the right column under 'Gaps vs. Current Code,' because this diagram describes the target design, not exactly where the code is today. Two real gaps: first, there's no auth check on the report endpoint yet — there's a literal TODO in app.py to require a JWT — so right now anyone can generate a report, not just a registered user. Second, the incident-type filter checked on the map doesn't actually get sent when you generate a report — the request body only carries the date window and bounding box, so a report today always includes every incident type regardless of what's toggled on the map.</a:t>
            </a:r>
          </a:p>
          <a:p/>
          <a:p>
            <a:r>
              <a:t>Everything else — the five included backend operations — is accurate and matches the code exactly.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01168"/>
            <a:ext cx="114300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500" b="1">
                <a:solidFill>
                  <a:srgbClr val="1E3A5F"/>
                </a:solidFill>
              </a:defRPr>
            </a:pPr>
            <a:r>
              <a:t>Report Module — Use-Case Diagram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65760" y="685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300" i="1">
                <a:solidFill>
                  <a:srgbClr val="444444"/>
                </a:solidFill>
              </a:defRPr>
            </a:pPr>
            <a:r>
              <a:t>Actors and «include» relationships, checked against what's actually implemented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20040" y="1188720"/>
            <a:ext cx="3520440" cy="5394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400" b="1">
                <a:solidFill>
                  <a:srgbClr val="1E3A5F"/>
                </a:solidFill>
              </a:defRPr>
            </a:pPr>
            <a:r>
              <a:t>Use-Case Structure</a:t>
            </a:r>
          </a:p>
          <a:p>
            <a:pPr>
              <a:spcAft>
                <a:spcPts val="600"/>
              </a:spcAft>
              <a:defRPr sz="1000">
                <a:solidFill>
                  <a:srgbClr val="444444"/>
                </a:solidFill>
              </a:defRPr>
            </a:pPr>
            <a:r>
              <a:t>•  Registered User is the sole actor and directly initiates 5 use cases.</a:t>
            </a:r>
          </a:p>
          <a:p>
            <a:pPr>
              <a:spcAft>
                <a:spcPts val="600"/>
              </a:spcAft>
              <a:defRPr sz="1000">
                <a:solidFill>
                  <a:srgbClr val="444444"/>
                </a:solidFill>
              </a:defRPr>
            </a:pPr>
            <a:r>
              <a:t>•  Generate Report «includes» 5 backend-only operations executed inside one HTTP request — not user-visible steps.</a:t>
            </a:r>
          </a:p>
          <a:p>
            <a:pPr>
              <a:spcAft>
                <a:spcPts val="400"/>
              </a:spcAft>
            </a:pPr>
          </a:p>
          <a:p>
            <a:pPr>
              <a:spcAft>
                <a:spcPts val="400"/>
              </a:spcAft>
              <a:defRPr sz="1400" b="1">
                <a:solidFill>
                  <a:srgbClr val="1E3A5F"/>
                </a:solidFill>
              </a:defRPr>
            </a:pPr>
            <a:r>
              <a:t>Gaps vs. Current Code</a:t>
            </a:r>
          </a:p>
          <a:p>
            <a:pPr>
              <a:spcAft>
                <a:spcPts val="600"/>
              </a:spcAft>
              <a:defRPr sz="1000">
                <a:solidFill>
                  <a:srgbClr val="444444"/>
                </a:solidFill>
              </a:defRPr>
            </a:pPr>
            <a:r>
              <a:t>•  No auth enforced yet — app.py’s /api/report has a TODO to require a JWT; any visitor can generate a report today, registered or not.</a:t>
            </a:r>
          </a:p>
          <a:p>
            <a:pPr>
              <a:spcAft>
                <a:spcPts val="600"/>
              </a:spcAft>
              <a:defRPr sz="1000">
                <a:solidFill>
                  <a:srgbClr val="444444"/>
                </a:solidFill>
              </a:defRPr>
            </a:pPr>
            <a:r>
              <a:t>•  Type filter isn’t wired in — the nature/type checkboxes only affect the map view; POST /api/report only sends {days, bounds}, so use case 2 never reaches Generate Report.</a:t>
            </a:r>
          </a:p>
          <a:p>
            <a:pPr>
              <a:spcAft>
                <a:spcPts val="600"/>
              </a:spcAft>
              <a:defRPr sz="1000">
                <a:solidFill>
                  <a:srgbClr val="444444"/>
                </a:solidFill>
              </a:defRPr>
            </a:pPr>
            <a:r>
              <a:t>•  Date range is a single lookback slider (1–30 days), not yet the custom start/end range the design implies.</a:t>
            </a:r>
          </a:p>
          <a:p>
            <a:pPr>
              <a:spcAft>
                <a:spcPts val="600"/>
              </a:spcAft>
              <a:defRPr sz="1000">
                <a:solidFill>
                  <a:srgbClr val="444444"/>
                </a:solidFill>
              </a:defRPr>
            </a:pPr>
            <a:r>
              <a:t>•  Use cases 6–10 (bounds filter, date filter, map snapshot, charts, PDF assembly) match report.py / app.py exactly.</a:t>
            </a:r>
          </a:p>
        </p:txBody>
      </p:sp>
      <p:sp>
        <p:nvSpPr>
          <p:cNvPr id="5" name="Rectangle 4"/>
          <p:cNvSpPr/>
          <p:nvPr/>
        </p:nvSpPr>
        <p:spPr>
          <a:xfrm>
            <a:off x="4846320" y="1188720"/>
            <a:ext cx="6903720" cy="5349240"/>
          </a:xfrm>
          <a:prstGeom prst="rect">
            <a:avLst/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</a:p>
        </p:txBody>
      </p:sp>
      <p:sp>
        <p:nvSpPr>
          <p:cNvPr id="6" name="TextBox 5"/>
          <p:cNvSpPr txBox="1"/>
          <p:nvPr/>
        </p:nvSpPr>
        <p:spPr>
          <a:xfrm>
            <a:off x="4846320" y="1243584"/>
            <a:ext cx="69037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1E3A5F"/>
                </a:solidFill>
              </a:defRPr>
            </a:pPr>
            <a:r>
              <a:t>Lee County Incident Map – Report Module</a:t>
            </a:r>
          </a:p>
        </p:txBody>
      </p:sp>
      <p:sp>
        <p:nvSpPr>
          <p:cNvPr id="7" name="Oval 6"/>
          <p:cNvSpPr/>
          <p:nvPr/>
        </p:nvSpPr>
        <p:spPr>
          <a:xfrm>
            <a:off x="4306824" y="3246120"/>
            <a:ext cx="256032" cy="256032"/>
          </a:xfrm>
          <a:prstGeom prst="ellipse">
            <a:avLst/>
          </a:prstGeom>
          <a:solidFill>
            <a:srgbClr val="FFFFFF"/>
          </a:solidFill>
          <a:ln w="19050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</a:p>
        </p:txBody>
      </p:sp>
      <p:cxnSp>
        <p:nvCxnSpPr>
          <p:cNvPr id="8" name="Connector 7"/>
          <p:cNvCxnSpPr/>
          <p:nvPr/>
        </p:nvCxnSpPr>
        <p:spPr>
          <a:xfrm>
            <a:off x="4434840" y="3502152"/>
            <a:ext cx="0" cy="475487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4114800" y="3639312"/>
            <a:ext cx="640079" cy="0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4187952" y="3977639"/>
            <a:ext cx="246888" cy="393193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4434840" y="3977639"/>
            <a:ext cx="246887" cy="393193"/>
          </a:xfrm>
          <a:prstGeom prst="line">
            <a:avLst/>
          </a:prstGeom>
          <a:ln w="1905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3749039" y="4407408"/>
            <a:ext cx="13716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1000" i="1" b="0">
                <a:solidFill>
                  <a:srgbClr val="202020"/>
                </a:solidFill>
              </a:defRPr>
            </a:pPr>
            <a:r>
              <a:t>Registered User</a:t>
            </a:r>
          </a:p>
        </p:txBody>
      </p:sp>
      <p:sp>
        <p:nvSpPr>
          <p:cNvPr id="13" name="Oval 12"/>
          <p:cNvSpPr/>
          <p:nvPr/>
        </p:nvSpPr>
        <p:spPr>
          <a:xfrm>
            <a:off x="5257800" y="1627632"/>
            <a:ext cx="2011680" cy="566928"/>
          </a:xfrm>
          <a:prstGeom prst="ellipse">
            <a:avLst/>
          </a:prstGeom>
          <a:solidFill>
            <a:srgbClr val="DCE6F1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1. Configure</a:t>
            </a:r>
          </a:p>
          <a:p>
            <a:pPr algn="ctr">
              <a:defRPr sz="1000" b="0">
                <a:solidFill>
                  <a:srgbClr val="202020"/>
                </a:solidFill>
              </a:defRPr>
            </a:pPr>
            <a:r>
              <a:t>Date Range</a:t>
            </a:r>
          </a:p>
        </p:txBody>
      </p:sp>
      <p:sp>
        <p:nvSpPr>
          <p:cNvPr id="14" name="Oval 13"/>
          <p:cNvSpPr/>
          <p:nvPr/>
        </p:nvSpPr>
        <p:spPr>
          <a:xfrm>
            <a:off x="5257800" y="2359152"/>
            <a:ext cx="2011680" cy="566928"/>
          </a:xfrm>
          <a:prstGeom prst="ellipse">
            <a:avLst/>
          </a:prstGeom>
          <a:solidFill>
            <a:srgbClr val="DCE6F1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2. Configure Incident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Type Filter</a:t>
            </a:r>
          </a:p>
        </p:txBody>
      </p:sp>
      <p:sp>
        <p:nvSpPr>
          <p:cNvPr id="15" name="Oval 14"/>
          <p:cNvSpPr/>
          <p:nvPr/>
        </p:nvSpPr>
        <p:spPr>
          <a:xfrm>
            <a:off x="5257800" y="3090672"/>
            <a:ext cx="2011680" cy="502920"/>
          </a:xfrm>
          <a:prstGeom prst="ellipse">
            <a:avLst/>
          </a:prstGeom>
          <a:solidFill>
            <a:srgbClr val="DCE6F1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3. Set Viewport</a:t>
            </a:r>
          </a:p>
        </p:txBody>
      </p:sp>
      <p:sp>
        <p:nvSpPr>
          <p:cNvPr id="16" name="Oval 15"/>
          <p:cNvSpPr/>
          <p:nvPr/>
        </p:nvSpPr>
        <p:spPr>
          <a:xfrm>
            <a:off x="5257800" y="3794760"/>
            <a:ext cx="2011680" cy="502920"/>
          </a:xfrm>
          <a:prstGeom prst="ellipse">
            <a:avLst/>
          </a:prstGeom>
          <a:solidFill>
            <a:srgbClr val="DCE6F1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1000" b="1">
                <a:solidFill>
                  <a:srgbClr val="202020"/>
                </a:solidFill>
              </a:defRPr>
            </a:pPr>
            <a:r>
              <a:t>4. Generate Report</a:t>
            </a:r>
          </a:p>
        </p:txBody>
      </p:sp>
      <p:sp>
        <p:nvSpPr>
          <p:cNvPr id="17" name="Oval 16"/>
          <p:cNvSpPr/>
          <p:nvPr/>
        </p:nvSpPr>
        <p:spPr>
          <a:xfrm>
            <a:off x="5257800" y="4498848"/>
            <a:ext cx="2011680" cy="502920"/>
          </a:xfrm>
          <a:prstGeom prst="ellipse">
            <a:avLst/>
          </a:prstGeom>
          <a:solidFill>
            <a:srgbClr val="DCE6F1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1000" b="0">
                <a:solidFill>
                  <a:srgbClr val="202020"/>
                </a:solidFill>
              </a:defRPr>
            </a:pPr>
            <a:r>
              <a:t>5. Download PDF</a:t>
            </a:r>
          </a:p>
        </p:txBody>
      </p:sp>
      <p:sp>
        <p:nvSpPr>
          <p:cNvPr id="18" name="Oval 17"/>
          <p:cNvSpPr/>
          <p:nvPr/>
        </p:nvSpPr>
        <p:spPr>
          <a:xfrm>
            <a:off x="9189720" y="1627632"/>
            <a:ext cx="2148840" cy="566928"/>
          </a:xfrm>
          <a:prstGeom prst="ellipse">
            <a:avLst/>
          </a:prstGeom>
          <a:solidFill>
            <a:srgbClr val="E2EFDA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6. Filter Incidents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by Bounds</a:t>
            </a:r>
          </a:p>
        </p:txBody>
      </p:sp>
      <p:sp>
        <p:nvSpPr>
          <p:cNvPr id="19" name="Oval 18"/>
          <p:cNvSpPr/>
          <p:nvPr/>
        </p:nvSpPr>
        <p:spPr>
          <a:xfrm>
            <a:off x="9189720" y="2359152"/>
            <a:ext cx="2148840" cy="566928"/>
          </a:xfrm>
          <a:prstGeom prst="ellipse">
            <a:avLst/>
          </a:prstGeom>
          <a:solidFill>
            <a:srgbClr val="E2EFDA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7. Filter Incidents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by Date</a:t>
            </a:r>
          </a:p>
        </p:txBody>
      </p:sp>
      <p:sp>
        <p:nvSpPr>
          <p:cNvPr id="20" name="Oval 19"/>
          <p:cNvSpPr/>
          <p:nvPr/>
        </p:nvSpPr>
        <p:spPr>
          <a:xfrm>
            <a:off x="9189720" y="3090672"/>
            <a:ext cx="2148840" cy="566928"/>
          </a:xfrm>
          <a:prstGeom prst="ellipse">
            <a:avLst/>
          </a:prstGeom>
          <a:solidFill>
            <a:srgbClr val="E2EFDA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8. Render Map</a:t>
            </a:r>
          </a:p>
          <a:p>
            <a:pPr algn="ctr">
              <a:defRPr sz="900" b="0">
                <a:solidFill>
                  <a:srgbClr val="202020"/>
                </a:solidFill>
              </a:defRPr>
            </a:pPr>
            <a:r>
              <a:t>Snapshot</a:t>
            </a:r>
          </a:p>
        </p:txBody>
      </p:sp>
      <p:sp>
        <p:nvSpPr>
          <p:cNvPr id="21" name="Oval 20"/>
          <p:cNvSpPr/>
          <p:nvPr/>
        </p:nvSpPr>
        <p:spPr>
          <a:xfrm>
            <a:off x="9189720" y="3822191"/>
            <a:ext cx="2148840" cy="502920"/>
          </a:xfrm>
          <a:prstGeom prst="ellipse">
            <a:avLst/>
          </a:prstGeom>
          <a:solidFill>
            <a:srgbClr val="E2EFDA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9. Generate Charts</a:t>
            </a:r>
          </a:p>
        </p:txBody>
      </p:sp>
      <p:sp>
        <p:nvSpPr>
          <p:cNvPr id="22" name="Oval 21"/>
          <p:cNvSpPr/>
          <p:nvPr/>
        </p:nvSpPr>
        <p:spPr>
          <a:xfrm>
            <a:off x="9189720" y="4526280"/>
            <a:ext cx="2148840" cy="502920"/>
          </a:xfrm>
          <a:prstGeom prst="ellipse">
            <a:avLst/>
          </a:prstGeom>
          <a:solidFill>
            <a:srgbClr val="E2EFDA"/>
          </a:solidFill>
          <a:ln w="15875">
            <a:solidFill>
              <a:srgbClr val="2020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9000" bIns="9000"/>
          <a:lstStyle/>
          <a:p>
            <a:pPr algn="ctr">
              <a:defRPr sz="900" b="0">
                <a:solidFill>
                  <a:srgbClr val="202020"/>
                </a:solidFill>
              </a:defRPr>
            </a:pPr>
            <a:r>
              <a:t>10. Assemble PDF</a:t>
            </a:r>
          </a:p>
        </p:txBody>
      </p:sp>
      <p:cxnSp>
        <p:nvCxnSpPr>
          <p:cNvPr id="23" name="Connector 22"/>
          <p:cNvCxnSpPr/>
          <p:nvPr/>
        </p:nvCxnSpPr>
        <p:spPr>
          <a:xfrm flipV="1">
            <a:off x="4754879" y="1911095"/>
            <a:ext cx="502921" cy="1728217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V="1">
            <a:off x="4754879" y="2642616"/>
            <a:ext cx="502921" cy="996696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4754879" y="3342132"/>
            <a:ext cx="502921" cy="297180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4754879" y="3639312"/>
            <a:ext cx="502921" cy="406908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4754879" y="3639312"/>
            <a:ext cx="502921" cy="1110996"/>
          </a:xfrm>
          <a:prstGeom prst="line">
            <a:avLst/>
          </a:prstGeom>
          <a:ln w="12700">
            <a:solidFill>
              <a:srgbClr val="20202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7269480" y="1911095"/>
            <a:ext cx="1920240" cy="2135125"/>
          </a:xfrm>
          <a:prstGeom prst="line">
            <a:avLst/>
          </a:prstGeom>
          <a:ln w="12700">
            <a:solidFill>
              <a:srgbClr val="20202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TextBox 28"/>
          <p:cNvSpPr txBox="1"/>
          <p:nvPr/>
        </p:nvSpPr>
        <p:spPr>
          <a:xfrm>
            <a:off x="7818120" y="2850642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i="1" b="0">
                <a:solidFill>
                  <a:srgbClr val="444444"/>
                </a:solidFill>
              </a:defRPr>
            </a:pPr>
            <a:r>
              <a:t>«include»</a:t>
            </a:r>
          </a:p>
        </p:txBody>
      </p:sp>
      <p:cxnSp>
        <p:nvCxnSpPr>
          <p:cNvPr id="30" name="Connector 29"/>
          <p:cNvCxnSpPr/>
          <p:nvPr/>
        </p:nvCxnSpPr>
        <p:spPr>
          <a:xfrm flipV="1">
            <a:off x="7269480" y="2642616"/>
            <a:ext cx="1920240" cy="1403604"/>
          </a:xfrm>
          <a:prstGeom prst="line">
            <a:avLst/>
          </a:prstGeom>
          <a:ln w="12700">
            <a:solidFill>
              <a:srgbClr val="20202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TextBox 30"/>
          <p:cNvSpPr txBox="1"/>
          <p:nvPr/>
        </p:nvSpPr>
        <p:spPr>
          <a:xfrm>
            <a:off x="7818120" y="3216402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i="1" b="0">
                <a:solidFill>
                  <a:srgbClr val="444444"/>
                </a:solidFill>
              </a:defRPr>
            </a:pPr>
            <a:r>
              <a:t>«include»</a:t>
            </a:r>
          </a:p>
        </p:txBody>
      </p:sp>
      <p:cxnSp>
        <p:nvCxnSpPr>
          <p:cNvPr id="32" name="Connector 31"/>
          <p:cNvCxnSpPr/>
          <p:nvPr/>
        </p:nvCxnSpPr>
        <p:spPr>
          <a:xfrm flipV="1">
            <a:off x="7269480" y="3374136"/>
            <a:ext cx="1920240" cy="672084"/>
          </a:xfrm>
          <a:prstGeom prst="line">
            <a:avLst/>
          </a:prstGeom>
          <a:ln w="12700">
            <a:solidFill>
              <a:srgbClr val="20202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/>
          <p:cNvSpPr txBox="1"/>
          <p:nvPr/>
        </p:nvSpPr>
        <p:spPr>
          <a:xfrm>
            <a:off x="7818120" y="3582162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i="1" b="0">
                <a:solidFill>
                  <a:srgbClr val="444444"/>
                </a:solidFill>
              </a:defRPr>
            </a:pPr>
            <a:r>
              <a:t>«include»</a:t>
            </a:r>
          </a:p>
        </p:txBody>
      </p:sp>
      <p:cxnSp>
        <p:nvCxnSpPr>
          <p:cNvPr id="34" name="Connector 33"/>
          <p:cNvCxnSpPr/>
          <p:nvPr/>
        </p:nvCxnSpPr>
        <p:spPr>
          <a:xfrm>
            <a:off x="7269480" y="4046220"/>
            <a:ext cx="1920240" cy="27431"/>
          </a:xfrm>
          <a:prstGeom prst="line">
            <a:avLst/>
          </a:prstGeom>
          <a:ln w="12700">
            <a:solidFill>
              <a:srgbClr val="20202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/>
          <p:cNvSpPr txBox="1"/>
          <p:nvPr/>
        </p:nvSpPr>
        <p:spPr>
          <a:xfrm>
            <a:off x="7818120" y="3931919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i="1" b="0">
                <a:solidFill>
                  <a:srgbClr val="444444"/>
                </a:solidFill>
              </a:defRPr>
            </a:pPr>
            <a:r>
              <a:t>«include»</a:t>
            </a:r>
          </a:p>
        </p:txBody>
      </p:sp>
      <p:cxnSp>
        <p:nvCxnSpPr>
          <p:cNvPr id="36" name="Connector 35"/>
          <p:cNvCxnSpPr/>
          <p:nvPr/>
        </p:nvCxnSpPr>
        <p:spPr>
          <a:xfrm>
            <a:off x="7269480" y="4046220"/>
            <a:ext cx="1920240" cy="731520"/>
          </a:xfrm>
          <a:prstGeom prst="line">
            <a:avLst/>
          </a:prstGeom>
          <a:ln w="12700">
            <a:solidFill>
              <a:srgbClr val="202020"/>
            </a:solidFill>
            <a:prstDash val="dash"/>
            <a:tailEnd type="triangle" w="med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7818120" y="4283964"/>
            <a:ext cx="82296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defRPr sz="800" i="1" b="0">
                <a:solidFill>
                  <a:srgbClr val="444444"/>
                </a:solidFill>
              </a:defRPr>
            </a:pPr>
            <a:r>
              <a:t>«include»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