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
  </p:notesMasterIdLst>
  <p:sldIdLst>
    <p:sldId id="258" r:id="rId2"/>
    <p:sldId id="271" r:id="rId3"/>
    <p:sldId id="272" r:id="rId4"/>
    <p:sldId id="273" r:id="rId5"/>
    <p:sldId id="27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55CE"/>
    <a:srgbClr val="1255CD"/>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F834F-F35C-A14F-BCD7-81DED83839AB}" v="712" dt="2026-04-16T05:01:11.255"/>
    <p1510:client id="{4E1421A3-B716-505D-3B14-7DC991A70F6C}" v="346" dt="2026-04-16T03:46:30.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57"/>
    <p:restoredTop sz="94453"/>
  </p:normalViewPr>
  <p:slideViewPr>
    <p:cSldViewPr snapToGrid="0">
      <p:cViewPr varScale="1">
        <p:scale>
          <a:sx n="104" d="100"/>
          <a:sy n="104" d="100"/>
        </p:scale>
        <p:origin x="5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DCE7E-3C3A-C84E-85FE-E5F5E5457DA5}" type="datetimeFigureOut">
              <a:rPr lang="en-US" smtClean="0"/>
              <a:t>9/12/26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E3DC12-BB0A-C347-90EA-A6929897958B}" type="slidenum">
              <a:rPr lang="en-US" smtClean="0"/>
              <a:t>‹#›</a:t>
            </a:fld>
            <a:endParaRPr lang="en-US"/>
          </a:p>
        </p:txBody>
      </p:sp>
    </p:spTree>
    <p:extLst>
      <p:ext uri="{BB962C8B-B14F-4D97-AF65-F5344CB8AC3E}">
        <p14:creationId xmlns:p14="http://schemas.microsoft.com/office/powerpoint/2010/main" val="2022115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0DBD688-CB4B-AA6E-9C88-CD5C04B5022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96623113-5F21-B36D-5537-F53CB86319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A34A121-4803-88BC-54F6-D0EF13BDB6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4951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A71F-E69E-AAB0-08DF-A35DECD029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C74B1C-E8ED-1311-F8CB-1BEA200FFC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7E5791-8A4A-742C-75F1-077F12EDB06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67D079B-2C39-811C-A8AF-A924E0A1D4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1ADBC-F5EB-CDB0-DD1E-F933EF678CE0}"/>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1675467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B755-1D12-FA92-EEB0-A98A3F0E01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E13466-327F-7ED4-C215-4F1675B28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59515-5C02-6C26-1291-32E6C383CF4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1135C3A-7359-0F5D-C262-98E92C5B8D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044645-22FA-9787-03D9-EEA7F18F3202}"/>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3445154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5F7B0-4B3C-694A-B893-5166B372D6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FCF2BE-DC52-26F1-B9FC-A25D33E95A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795D6E-9D5A-B7F6-9B87-6FB8FEB31B0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B92CD8C-83F2-65FD-7262-E1D86C0612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A57EF1-7353-F899-D0A7-B6AEB2C9F9AE}"/>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3239229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4092-FB36-FDB1-D157-B938F361A7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806CF4-8AAE-280D-41E2-B8EEC3E88E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255CC1-E892-801A-2B30-DE2FF14965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4C2D8D-EFBB-8F60-7145-62A9BDA24C3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07E434B-43B7-8F64-2D3D-0013C92E3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30644F-18AB-6872-EF0D-516C4E366D10}"/>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739722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F852-635D-7104-053D-16566D2FB8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DBD5C-A73F-9EF4-0D80-C5CE84A4A3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5EE57B-35C2-A1FA-EBE0-68198E2658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FD1FD4-EABD-D0F1-C7C1-25A1E4284A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0D9736-B7C4-E84B-48DE-9C8FB099C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A20C5B-F804-6199-AABC-303B59A07526}"/>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9E371228-8E23-582E-AA58-71422C49E2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0FE7A5-5624-54BA-C2D3-BBF4B0AE565F}"/>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65921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20685-173F-F317-153E-B26035AE50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E0043B-BE4B-9968-2DDA-9607704FBF3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CD8BA325-B7FF-1E59-5BB7-C969167898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43ADCB-B70F-9631-965E-78D7A43913F0}"/>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3223867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714165-60DD-A709-8A81-FC5549E5957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11762A43-BD3A-1B93-FCA9-54C66146B6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F0E0EF-DEB7-12B8-6A61-EF0A3F9E0A3B}"/>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1891030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9F6C-8B09-5589-3116-29CB9FC25A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4729FE-DEC9-DB0E-59C2-BECA2AA185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DCE077-3EAE-6039-0C83-52367D673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1B48-FAAA-4DA0-D170-94E633FFE15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0DEB01D-96D3-62EC-6678-319A4E78F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273F6-77C5-3CD1-AB37-6B28B0DF7E4D}"/>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4029408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62CA5-B977-8484-7034-FFF7F12DF4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BB3B1-00A2-C4DA-A765-6F73DA9602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7D9B70-9AC8-F7C9-DCCB-A988C66AC4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9FA97B-8727-6783-C131-C199EF09AB5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91A38BF-98B5-4DF3-3E57-4B6A1ED727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A76AA-CAE9-6051-BA04-16007644264B}"/>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489582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80A22-0A03-FECA-F404-4A51857B34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218119-FD83-2F50-8F89-2C259FB046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25C82-3CE4-8917-0183-9F257EEF4AF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3FA3A4-2C48-5FC7-04BA-462C1E2AC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CE7CE-1A88-336F-31E5-84DA0AC93950}"/>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3382990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B5BE68-A40F-37C2-5FE2-A89ECFDBE0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1962DA-561B-6524-1FB1-D7C9988A70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4351E-63AD-E4CB-313E-671316C600B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BB6EEEF-DC36-3458-B255-929E633AE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5B345-B4D3-6E74-68BD-1104EC497722}"/>
              </a:ext>
            </a:extLst>
          </p:cNvPr>
          <p:cNvSpPr>
            <a:spLocks noGrp="1"/>
          </p:cNvSpPr>
          <p:nvPr>
            <p:ph type="sldNum" sz="quarter" idx="12"/>
          </p:nvPr>
        </p:nvSpPr>
        <p:spPr/>
        <p:txBody>
          <a:bodyPr/>
          <a:lstStyle/>
          <a:p>
            <a:fld id="{F01E93EA-1FFC-2442-9175-2448D109E5BF}" type="slidenum">
              <a:rPr lang="en-US" smtClean="0"/>
              <a:t>‹#›</a:t>
            </a:fld>
            <a:endParaRPr lang="en-US"/>
          </a:p>
        </p:txBody>
      </p:sp>
    </p:spTree>
    <p:extLst>
      <p:ext uri="{BB962C8B-B14F-4D97-AF65-F5344CB8AC3E}">
        <p14:creationId xmlns:p14="http://schemas.microsoft.com/office/powerpoint/2010/main" val="1435129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30113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932366-2541-C4DA-62C7-18A3FE8AD3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D11268-B015-0472-AEF0-A39CB99AA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64FA99-F678-1D9F-0696-C4806CDE15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DDBDCFCE-3C00-EBB5-B0D2-1905D3A3AD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F5B18F-2295-DD69-C379-59A743F91C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1E93EA-1FFC-2442-9175-2448D109E5BF}" type="slidenum">
              <a:rPr lang="en-US" smtClean="0"/>
              <a:t>‹#›</a:t>
            </a:fld>
            <a:endParaRPr lang="en-US"/>
          </a:p>
        </p:txBody>
      </p:sp>
    </p:spTree>
    <p:extLst>
      <p:ext uri="{BB962C8B-B14F-4D97-AF65-F5344CB8AC3E}">
        <p14:creationId xmlns:p14="http://schemas.microsoft.com/office/powerpoint/2010/main" val="3156235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9940957-8AB2-D16F-0B68-8E5D536286B2}"/>
            </a:ext>
          </a:extLst>
        </p:cNvPr>
        <p:cNvGrpSpPr/>
        <p:nvPr/>
      </p:nvGrpSpPr>
      <p:grpSpPr>
        <a:xfrm>
          <a:off x="0" y="0"/>
          <a:ext cx="0" cy="0"/>
          <a:chOff x="0" y="0"/>
          <a:chExt cx="0" cy="0"/>
        </a:xfrm>
      </p:grpSpPr>
      <p:sp>
        <p:nvSpPr>
          <p:cNvPr id="2" name="Google Shape;54;p13">
            <a:extLst>
              <a:ext uri="{FF2B5EF4-FFF2-40B4-BE49-F238E27FC236}">
                <a16:creationId xmlns:a16="http://schemas.microsoft.com/office/drawing/2014/main" id="{E544DFAF-A0EC-9E6C-CAFB-47F9AD8487DE}"/>
              </a:ext>
            </a:extLst>
          </p:cNvPr>
          <p:cNvSpPr/>
          <p:nvPr/>
        </p:nvSpPr>
        <p:spPr>
          <a:xfrm>
            <a:off x="299778" y="329184"/>
            <a:ext cx="11587422" cy="6230112"/>
          </a:xfrm>
          <a:prstGeom prst="rect">
            <a:avLst/>
          </a:prstGeom>
          <a:solidFill>
            <a:schemeClr val="tx2">
              <a:lumMod val="50000"/>
              <a:lumOff val="50000"/>
            </a:schemeClr>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6" name="Google Shape;56;p13">
            <a:extLst>
              <a:ext uri="{FF2B5EF4-FFF2-40B4-BE49-F238E27FC236}">
                <a16:creationId xmlns:a16="http://schemas.microsoft.com/office/drawing/2014/main" id="{A98C722C-C428-8AA7-ECE6-E3BBF404506E}"/>
              </a:ext>
            </a:extLst>
          </p:cNvPr>
          <p:cNvSpPr txBox="1">
            <a:spLocks noGrp="1"/>
          </p:cNvSpPr>
          <p:nvPr>
            <p:ph type="subTitle" idx="4294967295"/>
          </p:nvPr>
        </p:nvSpPr>
        <p:spPr>
          <a:xfrm>
            <a:off x="4239563" y="5336992"/>
            <a:ext cx="3707851" cy="1531795"/>
          </a:xfrm>
          <a:prstGeom prst="rect">
            <a:avLst/>
          </a:prstGeom>
        </p:spPr>
        <p:txBody>
          <a:bodyPr spcFirstLastPara="1" vert="horz" wrap="square" lIns="121900" tIns="121900" rIns="121900" bIns="121900" rtlCol="0" anchor="t" anchorCtr="0">
            <a:normAutofit fontScale="92500" lnSpcReduction="20000"/>
          </a:bodyPr>
          <a:lstStyle/>
          <a:p>
            <a:pPr marL="0" indent="0" algn="ctr">
              <a:spcBef>
                <a:spcPts val="0"/>
              </a:spcBef>
              <a:spcAft>
                <a:spcPts val="1600"/>
              </a:spcAft>
              <a:buNone/>
            </a:pPr>
            <a:r>
              <a:rPr lang="en" sz="2000" b="1" dirty="0">
                <a:solidFill>
                  <a:schemeClr val="bg1"/>
                </a:solidFill>
                <a:latin typeface="Calibri" panose="020F0502020204030204" pitchFamily="34" charset="0"/>
                <a:cs typeface="Calibri" panose="020F0502020204030204" pitchFamily="34" charset="0"/>
              </a:rPr>
              <a:t>COP 4935 - Fall 2026</a:t>
            </a:r>
          </a:p>
          <a:p>
            <a:pPr marL="0" indent="0" algn="ctr">
              <a:spcBef>
                <a:spcPts val="0"/>
              </a:spcBef>
              <a:spcAft>
                <a:spcPts val="1600"/>
              </a:spcAft>
              <a:buNone/>
            </a:pPr>
            <a:r>
              <a:rPr lang="en" sz="2000" b="1" dirty="0">
                <a:solidFill>
                  <a:schemeClr val="bg1"/>
                </a:solidFill>
                <a:latin typeface="Calibri" panose="020F0502020204030204" pitchFamily="34" charset="0"/>
                <a:cs typeface="Calibri" panose="020F0502020204030204" pitchFamily="34" charset="0"/>
              </a:rPr>
              <a:t>Dr. Amoruso</a:t>
            </a:r>
          </a:p>
          <a:p>
            <a:pPr marL="0" indent="0" algn="ctr">
              <a:spcBef>
                <a:spcPts val="0"/>
              </a:spcBef>
              <a:spcAft>
                <a:spcPts val="1600"/>
              </a:spcAft>
              <a:buNone/>
            </a:pPr>
            <a:r>
              <a:rPr lang="en" sz="2000" b="1" dirty="0">
                <a:solidFill>
                  <a:schemeClr val="bg1"/>
                </a:solidFill>
                <a:latin typeface="Calibri" panose="020F0502020204030204" pitchFamily="34" charset="0"/>
                <a:cs typeface="Calibri" panose="020F0502020204030204" pitchFamily="34" charset="0"/>
              </a:rPr>
              <a:t>Group A04</a:t>
            </a:r>
          </a:p>
          <a:p>
            <a:pPr marL="0" indent="0" algn="ctr">
              <a:spcBef>
                <a:spcPts val="0"/>
              </a:spcBef>
              <a:spcAft>
                <a:spcPts val="1600"/>
              </a:spcAft>
              <a:buNone/>
            </a:pPr>
            <a:endParaRPr b="1" dirty="0">
              <a:solidFill>
                <a:srgbClr val="D9D9D9"/>
              </a:solidFill>
            </a:endParaRPr>
          </a:p>
        </p:txBody>
      </p:sp>
      <p:sp>
        <p:nvSpPr>
          <p:cNvPr id="4" name="Google Shape;56;p13">
            <a:extLst>
              <a:ext uri="{FF2B5EF4-FFF2-40B4-BE49-F238E27FC236}">
                <a16:creationId xmlns:a16="http://schemas.microsoft.com/office/drawing/2014/main" id="{90593383-5F90-E06A-E0C6-EF4A0F94D950}"/>
              </a:ext>
            </a:extLst>
          </p:cNvPr>
          <p:cNvSpPr txBox="1">
            <a:spLocks/>
          </p:cNvSpPr>
          <p:nvPr/>
        </p:nvSpPr>
        <p:spPr>
          <a:xfrm>
            <a:off x="593720" y="835684"/>
            <a:ext cx="6447160" cy="2971800"/>
          </a:xfrm>
          <a:prstGeom prst="rect">
            <a:avLst/>
          </a:prstGeom>
        </p:spPr>
        <p:txBody>
          <a:bodyPr spcFirstLastPara="1" vert="horz" wrap="square" lIns="121900" tIns="121900" rIns="121900" bIns="1219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600"/>
              </a:spcAft>
              <a:buFont typeface="Arial" panose="020B0604020202020204" pitchFamily="34" charset="0"/>
              <a:buNone/>
            </a:pPr>
            <a:r>
              <a:rPr lang="en-US" sz="4000" b="1" dirty="0">
                <a:solidFill>
                  <a:schemeClr val="bg1"/>
                </a:solidFill>
                <a:latin typeface="Calibri" panose="020F0502020204030204" pitchFamily="34" charset="0"/>
                <a:cs typeface="Calibri" panose="020F0502020204030204" pitchFamily="34" charset="0"/>
              </a:rPr>
              <a:t>Interactive</a:t>
            </a:r>
          </a:p>
          <a:p>
            <a:pPr marL="0" indent="0">
              <a:spcBef>
                <a:spcPts val="0"/>
              </a:spcBef>
              <a:spcAft>
                <a:spcPts val="1600"/>
              </a:spcAft>
              <a:buFont typeface="Arial" panose="020B0604020202020204" pitchFamily="34" charset="0"/>
              <a:buNone/>
            </a:pPr>
            <a:r>
              <a:rPr lang="en-US" sz="4000" b="1" dirty="0">
                <a:solidFill>
                  <a:schemeClr val="bg1"/>
                </a:solidFill>
                <a:latin typeface="Calibri" panose="020F0502020204030204" pitchFamily="34" charset="0"/>
                <a:cs typeface="Calibri" panose="020F0502020204030204" pitchFamily="34" charset="0"/>
              </a:rPr>
              <a:t>Sheriff Activity Map </a:t>
            </a:r>
          </a:p>
          <a:p>
            <a:pPr marL="0" indent="0">
              <a:spcBef>
                <a:spcPts val="0"/>
              </a:spcBef>
              <a:spcAft>
                <a:spcPts val="1600"/>
              </a:spcAft>
              <a:buFont typeface="Arial" panose="020B0604020202020204" pitchFamily="34" charset="0"/>
              <a:buNone/>
            </a:pPr>
            <a:r>
              <a:rPr lang="en-US" sz="4000" b="1" dirty="0">
                <a:solidFill>
                  <a:schemeClr val="bg1"/>
                </a:solidFill>
                <a:latin typeface="Calibri" panose="020F0502020204030204" pitchFamily="34" charset="0"/>
                <a:cs typeface="Calibri" panose="020F0502020204030204" pitchFamily="34" charset="0"/>
              </a:rPr>
              <a:t>of Lee County</a:t>
            </a:r>
          </a:p>
          <a:p>
            <a:pPr marL="0" indent="0" algn="ctr">
              <a:spcBef>
                <a:spcPts val="0"/>
              </a:spcBef>
              <a:spcAft>
                <a:spcPts val="1600"/>
              </a:spcAft>
              <a:buFont typeface="Arial" panose="020B0604020202020204" pitchFamily="34" charset="0"/>
              <a:buNone/>
            </a:pPr>
            <a:endParaRPr lang="en-US" b="1" dirty="0">
              <a:solidFill>
                <a:srgbClr val="D9D9D9"/>
              </a:solidFill>
            </a:endParaRPr>
          </a:p>
        </p:txBody>
      </p:sp>
      <p:sp>
        <p:nvSpPr>
          <p:cNvPr id="7" name="Google Shape;54;p13">
            <a:extLst>
              <a:ext uri="{FF2B5EF4-FFF2-40B4-BE49-F238E27FC236}">
                <a16:creationId xmlns:a16="http://schemas.microsoft.com/office/drawing/2014/main" id="{2BA5A7EF-051D-7EBE-FF21-0E9AE85AA1B7}"/>
              </a:ext>
            </a:extLst>
          </p:cNvPr>
          <p:cNvSpPr>
            <a:spLocks noChangeAspect="1"/>
          </p:cNvSpPr>
          <p:nvPr/>
        </p:nvSpPr>
        <p:spPr>
          <a:xfrm>
            <a:off x="7162659" y="698671"/>
            <a:ext cx="4347682" cy="4389120"/>
          </a:xfrm>
          <a:prstGeom prst="rect">
            <a:avLst/>
          </a:prstGeom>
          <a:solidFill>
            <a:schemeClr val="bg1"/>
          </a:solidFill>
          <a:ln w="9525" cap="flat" cmpd="sng">
            <a:noFill/>
            <a:prstDash val="solid"/>
            <a:round/>
            <a:headEnd type="none" w="sm" len="sm"/>
            <a:tailEnd type="none" w="sm" len="sm"/>
          </a:ln>
          <a:effectLst>
            <a:softEdge rad="0"/>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pic>
        <p:nvPicPr>
          <p:cNvPr id="5" name="Picture 4">
            <a:extLst>
              <a:ext uri="{FF2B5EF4-FFF2-40B4-BE49-F238E27FC236}">
                <a16:creationId xmlns:a16="http://schemas.microsoft.com/office/drawing/2014/main" id="{5C2C2585-C257-21B3-9220-5A06E42E0A6A}"/>
              </a:ext>
            </a:extLst>
          </p:cNvPr>
          <p:cNvPicPr>
            <a:picLocks noChangeAspect="1"/>
          </p:cNvPicPr>
          <p:nvPr/>
        </p:nvPicPr>
        <p:blipFill rotWithShape="1">
          <a:blip r:embed="rId3"/>
          <a:srcRect l="7265" t="15300" r="5538" b="15455"/>
          <a:stretch>
            <a:fillRect/>
          </a:stretch>
        </p:blipFill>
        <p:spPr bwMode="auto">
          <a:xfrm>
            <a:off x="7334822" y="835684"/>
            <a:ext cx="4003355" cy="4114800"/>
          </a:xfrm>
          <a:prstGeom prst="rect">
            <a:avLst/>
          </a:prstGeom>
          <a:ln>
            <a:solidFill>
              <a:schemeClr val="tx1"/>
            </a:solidFill>
          </a:ln>
          <a:extLst>
            <a:ext uri="{53640926-AAD7-44D8-BBD7-CCE9431645EC}">
              <a14:shadowObscured xmlns:a14="http://schemas.microsoft.com/office/drawing/2010/main"/>
            </a:ext>
          </a:extLst>
        </p:spPr>
      </p:pic>
      <p:sp>
        <p:nvSpPr>
          <p:cNvPr id="3" name="Google Shape;56;p13">
            <a:extLst>
              <a:ext uri="{FF2B5EF4-FFF2-40B4-BE49-F238E27FC236}">
                <a16:creationId xmlns:a16="http://schemas.microsoft.com/office/drawing/2014/main" id="{96D3E1A5-DD8A-21C2-3DB4-017FDB65DDA8}"/>
              </a:ext>
            </a:extLst>
          </p:cNvPr>
          <p:cNvSpPr txBox="1">
            <a:spLocks/>
          </p:cNvSpPr>
          <p:nvPr/>
        </p:nvSpPr>
        <p:spPr>
          <a:xfrm>
            <a:off x="593720" y="3254124"/>
            <a:ext cx="6447160" cy="1416212"/>
          </a:xfrm>
          <a:prstGeom prst="rect">
            <a:avLst/>
          </a:prstGeom>
        </p:spPr>
        <p:txBody>
          <a:bodyPr spcFirstLastPara="1" vert="horz" wrap="square" lIns="121900" tIns="121900" rIns="121900" bIns="1219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600"/>
              </a:spcAft>
              <a:buFont typeface="Arial" panose="020B0604020202020204" pitchFamily="34" charset="0"/>
              <a:buNone/>
            </a:pPr>
            <a:r>
              <a:rPr lang="en-US" sz="6000" b="1" i="1" dirty="0">
                <a:solidFill>
                  <a:schemeClr val="bg1"/>
                </a:solidFill>
                <a:latin typeface="Calibri" panose="020F0502020204030204" pitchFamily="34" charset="0"/>
                <a:cs typeface="Calibri" panose="020F0502020204030204" pitchFamily="34" charset="0"/>
              </a:rPr>
              <a:t>CDR Presentation</a:t>
            </a:r>
          </a:p>
          <a:p>
            <a:pPr marL="0" indent="0" algn="ctr">
              <a:spcBef>
                <a:spcPts val="0"/>
              </a:spcBef>
              <a:spcAft>
                <a:spcPts val="1600"/>
              </a:spcAft>
              <a:buFont typeface="Arial" panose="020B0604020202020204" pitchFamily="34" charset="0"/>
              <a:buNone/>
            </a:pPr>
            <a:endParaRPr lang="en-US" b="1" dirty="0">
              <a:solidFill>
                <a:srgbClr val="D9D9D9"/>
              </a:solidFill>
            </a:endParaRPr>
          </a:p>
        </p:txBody>
      </p:sp>
    </p:spTree>
    <p:extLst>
      <p:ext uri="{BB962C8B-B14F-4D97-AF65-F5344CB8AC3E}">
        <p14:creationId xmlns:p14="http://schemas.microsoft.com/office/powerpoint/2010/main" val="3295918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F046-4F14-E9E4-228D-5F1E930DF2D2}"/>
            </a:ext>
          </a:extLst>
        </p:cNvPr>
        <p:cNvGrpSpPr/>
        <p:nvPr/>
      </p:nvGrpSpPr>
      <p:grpSpPr>
        <a:xfrm>
          <a:off x="0" y="0"/>
          <a:ext cx="0" cy="0"/>
          <a:chOff x="0" y="0"/>
          <a:chExt cx="0" cy="0"/>
        </a:xfrm>
      </p:grpSpPr>
      <p:sp>
        <p:nvSpPr>
          <p:cNvPr id="14" name="Google Shape;54;p13">
            <a:extLst>
              <a:ext uri="{FF2B5EF4-FFF2-40B4-BE49-F238E27FC236}">
                <a16:creationId xmlns:a16="http://schemas.microsoft.com/office/drawing/2014/main" id="{DFDB8369-984D-7D05-D8F2-C438945D1DC8}"/>
              </a:ext>
            </a:extLst>
          </p:cNvPr>
          <p:cNvSpPr/>
          <p:nvPr/>
        </p:nvSpPr>
        <p:spPr>
          <a:xfrm>
            <a:off x="281133" y="1570036"/>
            <a:ext cx="11644167" cy="5061746"/>
          </a:xfrm>
          <a:prstGeom prst="rect">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FFFFF"/>
              </a:solidFill>
            </a:endParaRPr>
          </a:p>
        </p:txBody>
      </p:sp>
      <p:sp>
        <p:nvSpPr>
          <p:cNvPr id="2" name="Title 1">
            <a:extLst>
              <a:ext uri="{FF2B5EF4-FFF2-40B4-BE49-F238E27FC236}">
                <a16:creationId xmlns:a16="http://schemas.microsoft.com/office/drawing/2014/main" id="{AC22CED7-7597-0419-5CED-F735FAAC2585}"/>
              </a:ext>
            </a:extLst>
          </p:cNvPr>
          <p:cNvSpPr>
            <a:spLocks noGrp="1"/>
          </p:cNvSpPr>
          <p:nvPr>
            <p:ph type="title"/>
          </p:nvPr>
        </p:nvSpPr>
        <p:spPr>
          <a:xfrm>
            <a:off x="0" y="1"/>
            <a:ext cx="12192000" cy="1343818"/>
          </a:xfrm>
          <a:solidFill>
            <a:schemeClr val="tx2">
              <a:lumMod val="50000"/>
              <a:lumOff val="50000"/>
            </a:schemeClr>
          </a:solidFill>
        </p:spPr>
        <p:txBody>
          <a:bodyPr vert="horz" lIns="91440" tIns="45720" rIns="91440" bIns="45720" rtlCol="0" anchor="ctr">
            <a:normAutofit/>
          </a:bodyPr>
          <a:lstStyle/>
          <a:p>
            <a:pPr marL="365760"/>
            <a:r>
              <a:rPr lang="en-US" dirty="0">
                <a:solidFill>
                  <a:schemeClr val="bg1"/>
                </a:solidFill>
                <a:latin typeface="Calibri" panose="020F0502020204030204" pitchFamily="34" charset="0"/>
                <a:cs typeface="Calibri" panose="020F0502020204030204" pitchFamily="34" charset="0"/>
              </a:rPr>
              <a:t>Problem Statement</a:t>
            </a:r>
          </a:p>
        </p:txBody>
      </p:sp>
      <p:sp>
        <p:nvSpPr>
          <p:cNvPr id="3" name="Content Placeholder 2">
            <a:extLst>
              <a:ext uri="{FF2B5EF4-FFF2-40B4-BE49-F238E27FC236}">
                <a16:creationId xmlns:a16="http://schemas.microsoft.com/office/drawing/2014/main" id="{FC659A46-86C7-38AC-4B27-E6B1DCAF0AE5}"/>
              </a:ext>
            </a:extLst>
          </p:cNvPr>
          <p:cNvSpPr>
            <a:spLocks noGrp="1"/>
          </p:cNvSpPr>
          <p:nvPr>
            <p:ph idx="1"/>
          </p:nvPr>
        </p:nvSpPr>
        <p:spPr>
          <a:xfrm>
            <a:off x="393700" y="1663700"/>
            <a:ext cx="10974516" cy="4798884"/>
          </a:xfrm>
          <a:solidFill>
            <a:schemeClr val="bg1"/>
          </a:solidFill>
        </p:spPr>
        <p:txBody>
          <a:bodyPr vert="horz" lIns="91440" tIns="45720" rIns="91440" bIns="45720" rtlCol="0" anchor="t">
            <a:normAutofit/>
          </a:bodyPr>
          <a:lstStyle/>
          <a:p>
            <a:pPr marL="457200" lvl="1" indent="0">
              <a:lnSpc>
                <a:spcPct val="160000"/>
              </a:lnSpc>
              <a:buNone/>
            </a:pPr>
            <a:r>
              <a:rPr lang="en-US" dirty="0">
                <a:latin typeface="Calibri" panose="020F0502020204030204" pitchFamily="34" charset="0"/>
                <a:cs typeface="Calibri" panose="020F0502020204030204" pitchFamily="34" charset="0"/>
              </a:rPr>
              <a:t>Sheriff department incident and traffic data is often made publicly available, but when presented as raw records or individual points on a map, the underlying spatial and temporal patterns, which indicate where incidents concentrate and how those patterns shift over time, can be difficult to perceive and interpret.  Residents, developers, city planners, and local officials may each want to explore this data for different reasons, but static point maps and raw datasets don't reveal these patterns on their own. </a:t>
            </a:r>
          </a:p>
          <a:p>
            <a:pPr lvl="2"/>
            <a:endParaRPr lang="en-US" dirty="0"/>
          </a:p>
          <a:p>
            <a:pPr lvl="2"/>
            <a:endParaRPr lang="en-US" dirty="0"/>
          </a:p>
        </p:txBody>
      </p:sp>
      <p:sp>
        <p:nvSpPr>
          <p:cNvPr id="4" name="Slide Number Placeholder 3">
            <a:extLst>
              <a:ext uri="{FF2B5EF4-FFF2-40B4-BE49-F238E27FC236}">
                <a16:creationId xmlns:a16="http://schemas.microsoft.com/office/drawing/2014/main" id="{A02E5AC6-1FA9-EFCB-F742-93A383CDFBE9}"/>
              </a:ext>
            </a:extLst>
          </p:cNvPr>
          <p:cNvSpPr>
            <a:spLocks noGrp="1"/>
          </p:cNvSpPr>
          <p:nvPr>
            <p:ph type="sldNum" sz="quarter" idx="12"/>
          </p:nvPr>
        </p:nvSpPr>
        <p:spPr>
          <a:xfrm>
            <a:off x="11003280" y="6403182"/>
            <a:ext cx="1188720" cy="457200"/>
          </a:xfrm>
          <a:solidFill>
            <a:schemeClr val="tx2">
              <a:lumMod val="50000"/>
              <a:lumOff val="50000"/>
            </a:schemeClr>
          </a:solidFill>
        </p:spPr>
        <p:txBody>
          <a:bodyPr/>
          <a:lstStyle/>
          <a:p>
            <a:pPr algn="ctr"/>
            <a:fld id="{F01E93EA-1FFC-2442-9175-2448D109E5BF}" type="slidenum">
              <a:rPr lang="en-US" sz="1600" smtClean="0">
                <a:solidFill>
                  <a:schemeClr val="bg1"/>
                </a:solidFill>
                <a:latin typeface="Calibri" panose="020F0502020204030204" pitchFamily="34" charset="0"/>
                <a:cs typeface="Calibri" panose="020F0502020204030204" pitchFamily="34" charset="0"/>
              </a:rPr>
              <a:pPr algn="ctr"/>
              <a:t>2</a:t>
            </a:fld>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1316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4BC1E-012B-9BF7-1968-C091FBADAFFA}"/>
            </a:ext>
          </a:extLst>
        </p:cNvPr>
        <p:cNvGrpSpPr/>
        <p:nvPr/>
      </p:nvGrpSpPr>
      <p:grpSpPr>
        <a:xfrm>
          <a:off x="0" y="0"/>
          <a:ext cx="0" cy="0"/>
          <a:chOff x="0" y="0"/>
          <a:chExt cx="0" cy="0"/>
        </a:xfrm>
      </p:grpSpPr>
      <p:sp>
        <p:nvSpPr>
          <p:cNvPr id="14" name="Google Shape;54;p13">
            <a:extLst>
              <a:ext uri="{FF2B5EF4-FFF2-40B4-BE49-F238E27FC236}">
                <a16:creationId xmlns:a16="http://schemas.microsoft.com/office/drawing/2014/main" id="{AF26C082-79F7-5F38-BC55-0A39729DCAB1}"/>
              </a:ext>
            </a:extLst>
          </p:cNvPr>
          <p:cNvSpPr/>
          <p:nvPr/>
        </p:nvSpPr>
        <p:spPr>
          <a:xfrm>
            <a:off x="281133" y="1570036"/>
            <a:ext cx="11644167" cy="5061746"/>
          </a:xfrm>
          <a:prstGeom prst="rect">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FFFFF"/>
              </a:solidFill>
            </a:endParaRPr>
          </a:p>
        </p:txBody>
      </p:sp>
      <p:sp>
        <p:nvSpPr>
          <p:cNvPr id="2" name="Title 1">
            <a:extLst>
              <a:ext uri="{FF2B5EF4-FFF2-40B4-BE49-F238E27FC236}">
                <a16:creationId xmlns:a16="http://schemas.microsoft.com/office/drawing/2014/main" id="{016A75AC-FDF8-3B9A-435D-B8C0787EDD85}"/>
              </a:ext>
            </a:extLst>
          </p:cNvPr>
          <p:cNvSpPr>
            <a:spLocks noGrp="1"/>
          </p:cNvSpPr>
          <p:nvPr>
            <p:ph type="title"/>
          </p:nvPr>
        </p:nvSpPr>
        <p:spPr>
          <a:xfrm>
            <a:off x="0" y="1"/>
            <a:ext cx="12192000" cy="1343818"/>
          </a:xfrm>
          <a:solidFill>
            <a:schemeClr val="tx2">
              <a:lumMod val="50000"/>
              <a:lumOff val="50000"/>
            </a:schemeClr>
          </a:solidFill>
        </p:spPr>
        <p:txBody>
          <a:bodyPr vert="horz" lIns="91440" tIns="45720" rIns="91440" bIns="45720" rtlCol="0" anchor="ctr">
            <a:normAutofit/>
          </a:bodyPr>
          <a:lstStyle/>
          <a:p>
            <a:pPr marL="365760"/>
            <a:r>
              <a:rPr lang="en-US" dirty="0">
                <a:solidFill>
                  <a:schemeClr val="bg1"/>
                </a:solidFill>
                <a:latin typeface="Calibri" panose="020F0502020204030204" pitchFamily="34" charset="0"/>
                <a:cs typeface="Calibri" panose="020F0502020204030204" pitchFamily="34" charset="0"/>
              </a:rPr>
              <a:t>Proposed Solution</a:t>
            </a:r>
          </a:p>
        </p:txBody>
      </p:sp>
      <p:sp>
        <p:nvSpPr>
          <p:cNvPr id="3" name="Content Placeholder 2">
            <a:extLst>
              <a:ext uri="{FF2B5EF4-FFF2-40B4-BE49-F238E27FC236}">
                <a16:creationId xmlns:a16="http://schemas.microsoft.com/office/drawing/2014/main" id="{0C476B5C-5A2B-23C7-C861-06D2F743360C}"/>
              </a:ext>
            </a:extLst>
          </p:cNvPr>
          <p:cNvSpPr>
            <a:spLocks noGrp="1"/>
          </p:cNvSpPr>
          <p:nvPr>
            <p:ph idx="1"/>
          </p:nvPr>
        </p:nvSpPr>
        <p:spPr>
          <a:xfrm>
            <a:off x="393700" y="1663700"/>
            <a:ext cx="10974516" cy="4798884"/>
          </a:xfrm>
          <a:solidFill>
            <a:schemeClr val="bg1"/>
          </a:solidFill>
        </p:spPr>
        <p:txBody>
          <a:bodyPr vert="horz" lIns="91440" tIns="45720" rIns="91440" bIns="45720" rtlCol="0" anchor="t">
            <a:normAutofit/>
          </a:bodyPr>
          <a:lstStyle/>
          <a:p>
            <a:pPr marL="457200" lvl="1" indent="0">
              <a:lnSpc>
                <a:spcPct val="160000"/>
              </a:lnSpc>
              <a:buNone/>
            </a:pPr>
            <a:r>
              <a:rPr lang="en-US" dirty="0">
                <a:latin typeface="Calibri" panose="020F0502020204030204" pitchFamily="34" charset="0"/>
                <a:cs typeface="Calibri" panose="020F0502020204030204" pitchFamily="34" charset="0"/>
              </a:rPr>
              <a:t>This project addresses this challenge with a web application that integrates interactive map filtering, clustering, and heat mapping, along with animated views of how clustering and density patterns change over time, giving users a more convenient and intuitive way to explore and interpret spatial trends in public safety data. A built-in report generation feature also allows users to summarize their filtered selections for further use.</a:t>
            </a:r>
          </a:p>
          <a:p>
            <a:pPr lvl="2"/>
            <a:endParaRPr lang="en-US" dirty="0"/>
          </a:p>
          <a:p>
            <a:pPr lvl="2"/>
            <a:endParaRPr lang="en-US" dirty="0"/>
          </a:p>
        </p:txBody>
      </p:sp>
      <p:sp>
        <p:nvSpPr>
          <p:cNvPr id="7" name="Slide Number Placeholder 3">
            <a:extLst>
              <a:ext uri="{FF2B5EF4-FFF2-40B4-BE49-F238E27FC236}">
                <a16:creationId xmlns:a16="http://schemas.microsoft.com/office/drawing/2014/main" id="{780CEE44-650B-4D8A-BB57-A7DDAD3ED19C}"/>
              </a:ext>
            </a:extLst>
          </p:cNvPr>
          <p:cNvSpPr>
            <a:spLocks noGrp="1"/>
          </p:cNvSpPr>
          <p:nvPr>
            <p:ph type="sldNum" sz="quarter" idx="12"/>
          </p:nvPr>
        </p:nvSpPr>
        <p:spPr>
          <a:xfrm>
            <a:off x="11003280" y="6403182"/>
            <a:ext cx="1188720" cy="457200"/>
          </a:xfrm>
          <a:solidFill>
            <a:schemeClr val="tx2">
              <a:lumMod val="50000"/>
              <a:lumOff val="50000"/>
            </a:schemeClr>
          </a:solidFill>
        </p:spPr>
        <p:txBody>
          <a:bodyPr/>
          <a:lstStyle/>
          <a:p>
            <a:pPr algn="ctr"/>
            <a:fld id="{F01E93EA-1FFC-2442-9175-2448D109E5BF}" type="slidenum">
              <a:rPr lang="en-US" sz="1600" smtClean="0">
                <a:solidFill>
                  <a:schemeClr val="bg1"/>
                </a:solidFill>
                <a:latin typeface="Calibri" panose="020F0502020204030204" pitchFamily="34" charset="0"/>
                <a:cs typeface="Calibri" panose="020F0502020204030204" pitchFamily="34" charset="0"/>
              </a:rPr>
              <a:pPr algn="ctr"/>
              <a:t>3</a:t>
            </a:fld>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213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291F-9F52-A4BF-093A-66509E12F74B}"/>
            </a:ext>
          </a:extLst>
        </p:cNvPr>
        <p:cNvGrpSpPr/>
        <p:nvPr/>
      </p:nvGrpSpPr>
      <p:grpSpPr>
        <a:xfrm>
          <a:off x="0" y="0"/>
          <a:ext cx="0" cy="0"/>
          <a:chOff x="0" y="0"/>
          <a:chExt cx="0" cy="0"/>
        </a:xfrm>
      </p:grpSpPr>
      <p:sp>
        <p:nvSpPr>
          <p:cNvPr id="14" name="Google Shape;54;p13">
            <a:extLst>
              <a:ext uri="{FF2B5EF4-FFF2-40B4-BE49-F238E27FC236}">
                <a16:creationId xmlns:a16="http://schemas.microsoft.com/office/drawing/2014/main" id="{08B576D1-3050-DBFD-AF39-954643A32457}"/>
              </a:ext>
            </a:extLst>
          </p:cNvPr>
          <p:cNvSpPr/>
          <p:nvPr/>
        </p:nvSpPr>
        <p:spPr>
          <a:xfrm>
            <a:off x="281133" y="1570036"/>
            <a:ext cx="11644167" cy="5061746"/>
          </a:xfrm>
          <a:prstGeom prst="rect">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FFFFF"/>
              </a:solidFill>
            </a:endParaRPr>
          </a:p>
        </p:txBody>
      </p:sp>
      <p:sp>
        <p:nvSpPr>
          <p:cNvPr id="2" name="Title 1">
            <a:extLst>
              <a:ext uri="{FF2B5EF4-FFF2-40B4-BE49-F238E27FC236}">
                <a16:creationId xmlns:a16="http://schemas.microsoft.com/office/drawing/2014/main" id="{5B5A6C7E-4087-FDA7-49FE-630D46C9A360}"/>
              </a:ext>
            </a:extLst>
          </p:cNvPr>
          <p:cNvSpPr>
            <a:spLocks noGrp="1"/>
          </p:cNvSpPr>
          <p:nvPr>
            <p:ph type="title"/>
          </p:nvPr>
        </p:nvSpPr>
        <p:spPr>
          <a:xfrm>
            <a:off x="0" y="1"/>
            <a:ext cx="12192000" cy="1343818"/>
          </a:xfrm>
          <a:solidFill>
            <a:schemeClr val="tx2">
              <a:lumMod val="50000"/>
              <a:lumOff val="50000"/>
            </a:schemeClr>
          </a:solidFill>
        </p:spPr>
        <p:txBody>
          <a:bodyPr vert="horz" lIns="91440" tIns="45720" rIns="91440" bIns="45720" rtlCol="0" anchor="ctr">
            <a:normAutofit/>
          </a:bodyPr>
          <a:lstStyle/>
          <a:p>
            <a:pPr marL="365760"/>
            <a:r>
              <a:rPr lang="en-US" dirty="0">
                <a:solidFill>
                  <a:schemeClr val="bg1"/>
                </a:solidFill>
                <a:latin typeface="Calibri" panose="020F0502020204030204" pitchFamily="34" charset="0"/>
                <a:cs typeface="Calibri" panose="020F0502020204030204" pitchFamily="34" charset="0"/>
              </a:rPr>
              <a:t>Proposed Solution (Continued)</a:t>
            </a:r>
          </a:p>
        </p:txBody>
      </p:sp>
      <p:sp>
        <p:nvSpPr>
          <p:cNvPr id="5" name="Content Placeholder 4">
            <a:extLst>
              <a:ext uri="{FF2B5EF4-FFF2-40B4-BE49-F238E27FC236}">
                <a16:creationId xmlns:a16="http://schemas.microsoft.com/office/drawing/2014/main" id="{D68EF7B0-8AF8-4A1F-4834-CFA9CCAD7719}"/>
              </a:ext>
            </a:extLst>
          </p:cNvPr>
          <p:cNvSpPr>
            <a:spLocks noGrp="1"/>
          </p:cNvSpPr>
          <p:nvPr>
            <p:ph idx="1"/>
          </p:nvPr>
        </p:nvSpPr>
        <p:spPr/>
        <p:txBody>
          <a:bodyPr>
            <a:normAutofit/>
          </a:bodyPr>
          <a:lstStyle/>
          <a:p>
            <a:r>
              <a:rPr lang="en-US" dirty="0">
                <a:latin typeface="Calibri" panose="020F0502020204030204" pitchFamily="34" charset="0"/>
                <a:cs typeface="Calibri" panose="020F0502020204030204" pitchFamily="34" charset="0"/>
              </a:rPr>
              <a:t>MVP Items</a:t>
            </a:r>
          </a:p>
          <a:p>
            <a:pPr lvl="1"/>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endParaRPr lang="en-US" dirty="0"/>
          </a:p>
        </p:txBody>
      </p:sp>
      <p:sp>
        <p:nvSpPr>
          <p:cNvPr id="10" name="Slide Number Placeholder 3">
            <a:extLst>
              <a:ext uri="{FF2B5EF4-FFF2-40B4-BE49-F238E27FC236}">
                <a16:creationId xmlns:a16="http://schemas.microsoft.com/office/drawing/2014/main" id="{44146DA2-B1FC-59FC-15AC-932C66A729B4}"/>
              </a:ext>
            </a:extLst>
          </p:cNvPr>
          <p:cNvSpPr>
            <a:spLocks noGrp="1"/>
          </p:cNvSpPr>
          <p:nvPr>
            <p:ph type="sldNum" sz="quarter" idx="12"/>
          </p:nvPr>
        </p:nvSpPr>
        <p:spPr>
          <a:xfrm>
            <a:off x="11003280" y="6403182"/>
            <a:ext cx="1188720" cy="457200"/>
          </a:xfrm>
          <a:solidFill>
            <a:schemeClr val="tx2">
              <a:lumMod val="50000"/>
              <a:lumOff val="50000"/>
            </a:schemeClr>
          </a:solidFill>
        </p:spPr>
        <p:txBody>
          <a:bodyPr/>
          <a:lstStyle/>
          <a:p>
            <a:pPr algn="ctr"/>
            <a:fld id="{F01E93EA-1FFC-2442-9175-2448D109E5BF}" type="slidenum">
              <a:rPr lang="en-US" sz="1600" smtClean="0">
                <a:solidFill>
                  <a:schemeClr val="bg1"/>
                </a:solidFill>
                <a:latin typeface="Calibri" panose="020F0502020204030204" pitchFamily="34" charset="0"/>
                <a:cs typeface="Calibri" panose="020F0502020204030204" pitchFamily="34" charset="0"/>
              </a:rPr>
              <a:pPr algn="ctr"/>
              <a:t>4</a:t>
            </a:fld>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290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E732B-8413-75EB-9C94-BF852F7C93BC}"/>
            </a:ext>
          </a:extLst>
        </p:cNvPr>
        <p:cNvGrpSpPr/>
        <p:nvPr/>
      </p:nvGrpSpPr>
      <p:grpSpPr>
        <a:xfrm>
          <a:off x="0" y="0"/>
          <a:ext cx="0" cy="0"/>
          <a:chOff x="0" y="0"/>
          <a:chExt cx="0" cy="0"/>
        </a:xfrm>
      </p:grpSpPr>
      <p:sp>
        <p:nvSpPr>
          <p:cNvPr id="14" name="Google Shape;54;p13">
            <a:extLst>
              <a:ext uri="{FF2B5EF4-FFF2-40B4-BE49-F238E27FC236}">
                <a16:creationId xmlns:a16="http://schemas.microsoft.com/office/drawing/2014/main" id="{A060B821-445B-887D-8FB0-CC699504C583}"/>
              </a:ext>
            </a:extLst>
          </p:cNvPr>
          <p:cNvSpPr/>
          <p:nvPr/>
        </p:nvSpPr>
        <p:spPr>
          <a:xfrm>
            <a:off x="281133" y="1570036"/>
            <a:ext cx="11644167" cy="5061746"/>
          </a:xfrm>
          <a:prstGeom prst="rect">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FFFFF"/>
              </a:solidFill>
            </a:endParaRPr>
          </a:p>
        </p:txBody>
      </p:sp>
      <p:sp>
        <p:nvSpPr>
          <p:cNvPr id="2" name="Title 1">
            <a:extLst>
              <a:ext uri="{FF2B5EF4-FFF2-40B4-BE49-F238E27FC236}">
                <a16:creationId xmlns:a16="http://schemas.microsoft.com/office/drawing/2014/main" id="{49A35372-1B39-2021-D500-1F7E0E7782A0}"/>
              </a:ext>
            </a:extLst>
          </p:cNvPr>
          <p:cNvSpPr>
            <a:spLocks noGrp="1"/>
          </p:cNvSpPr>
          <p:nvPr>
            <p:ph type="title"/>
          </p:nvPr>
        </p:nvSpPr>
        <p:spPr>
          <a:xfrm>
            <a:off x="0" y="1"/>
            <a:ext cx="12192000" cy="1343818"/>
          </a:xfrm>
          <a:solidFill>
            <a:schemeClr val="tx2">
              <a:lumMod val="50000"/>
              <a:lumOff val="50000"/>
            </a:schemeClr>
          </a:solidFill>
        </p:spPr>
        <p:txBody>
          <a:bodyPr vert="horz" lIns="91440" tIns="45720" rIns="91440" bIns="45720" rtlCol="0" anchor="ctr">
            <a:normAutofit/>
          </a:bodyPr>
          <a:lstStyle/>
          <a:p>
            <a:pPr marL="365760"/>
            <a:r>
              <a:rPr lang="en-US" dirty="0">
                <a:solidFill>
                  <a:schemeClr val="bg1"/>
                </a:solidFill>
                <a:latin typeface="Calibri" panose="020F0502020204030204" pitchFamily="34" charset="0"/>
                <a:cs typeface="Calibri" panose="020F0502020204030204" pitchFamily="34" charset="0"/>
              </a:rPr>
              <a:t>Use-Case Diagram: Heat Map</a:t>
            </a:r>
          </a:p>
        </p:txBody>
      </p:sp>
      <p:sp>
        <p:nvSpPr>
          <p:cNvPr id="5" name="Content Placeholder 4">
            <a:extLst>
              <a:ext uri="{FF2B5EF4-FFF2-40B4-BE49-F238E27FC236}">
                <a16:creationId xmlns:a16="http://schemas.microsoft.com/office/drawing/2014/main" id="{6BE1A918-D32F-AA57-F27C-DD3933E35FD7}"/>
              </a:ext>
            </a:extLst>
          </p:cNvPr>
          <p:cNvSpPr>
            <a:spLocks noGrp="1"/>
          </p:cNvSpPr>
          <p:nvPr>
            <p:ph idx="1"/>
          </p:nvPr>
        </p:nvSpPr>
        <p:spPr>
          <a:xfrm>
            <a:off x="838200" y="1902941"/>
            <a:ext cx="5616911" cy="4274022"/>
          </a:xfrm>
        </p:spPr>
        <p:txBody>
          <a:bodyPr>
            <a:normAutofit fontScale="92500"/>
          </a:bodyPr>
          <a:lstStyle/>
          <a:p>
            <a:r>
              <a:rPr lang="en-US" dirty="0">
                <a:latin typeface="Calibri" panose="020F0502020204030204" pitchFamily="34" charset="0"/>
                <a:cs typeface="Calibri" panose="020F0502020204030204" pitchFamily="34" charset="0"/>
              </a:rPr>
              <a:t>Heat Map</a:t>
            </a:r>
          </a:p>
          <a:p>
            <a:pPr lvl="1"/>
            <a:r>
              <a:rPr lang="en-US" dirty="0">
                <a:latin typeface="Calibri" panose="020F0502020204030204" pitchFamily="34" charset="0"/>
                <a:cs typeface="Calibri" panose="020F0502020204030204" pitchFamily="34" charset="0"/>
              </a:rPr>
              <a:t>MVP:  		KDE</a:t>
            </a:r>
          </a:p>
          <a:p>
            <a:pPr lvl="1"/>
            <a:r>
              <a:rPr lang="en-US" dirty="0">
                <a:latin typeface="Calibri" panose="020F0502020204030204" pitchFamily="34" charset="0"/>
                <a:cs typeface="Calibri" panose="020F0502020204030204" pitchFamily="34" charset="0"/>
              </a:rPr>
              <a:t>Sketch Goal:  	G</a:t>
            </a:r>
            <a:r>
              <a:rPr lang="en-US" baseline="-25000" dirty="0">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a:t>
            </a:r>
          </a:p>
          <a:p>
            <a:r>
              <a:rPr lang="en-US" dirty="0">
                <a:latin typeface="Calibri" panose="020F0502020204030204" pitchFamily="34" charset="0"/>
                <a:cs typeface="Calibri" panose="020F0502020204030204" pitchFamily="34" charset="0"/>
              </a:rPr>
              <a:t>Generate Heat Map based on DBSCAN cluster assignments.</a:t>
            </a:r>
          </a:p>
          <a:p>
            <a:r>
              <a:rPr lang="en-US" dirty="0">
                <a:latin typeface="Calibri" panose="020F0502020204030204" pitchFamily="34" charset="0"/>
                <a:cs typeface="Calibri" panose="020F0502020204030204" pitchFamily="34" charset="0"/>
              </a:rPr>
              <a:t>Generate Heat Map based on a single grouping.</a:t>
            </a:r>
          </a:p>
          <a:p>
            <a:r>
              <a:rPr lang="en-US" dirty="0">
                <a:latin typeface="Calibri" panose="020F0502020204030204" pitchFamily="34" charset="0"/>
                <a:cs typeface="Calibri" panose="020F0502020204030204" pitchFamily="34" charset="0"/>
              </a:rPr>
              <a:t>Adjust parameter for each cluster assignment.</a:t>
            </a:r>
          </a:p>
          <a:p>
            <a:r>
              <a:rPr lang="en-US" dirty="0">
                <a:latin typeface="Calibri" panose="020F0502020204030204" pitchFamily="34" charset="0"/>
                <a:cs typeface="Calibri" panose="020F0502020204030204" pitchFamily="34" charset="0"/>
              </a:rPr>
              <a:t>Parameter optimization is automatic</a:t>
            </a:r>
          </a:p>
          <a:p>
            <a:endParaRPr lang="en-US" dirty="0"/>
          </a:p>
        </p:txBody>
      </p:sp>
      <p:pic>
        <p:nvPicPr>
          <p:cNvPr id="7" name="Picture 6">
            <a:extLst>
              <a:ext uri="{FF2B5EF4-FFF2-40B4-BE49-F238E27FC236}">
                <a16:creationId xmlns:a16="http://schemas.microsoft.com/office/drawing/2014/main" id="{E2C59AC0-5081-5EA5-BD6D-221AAC16173A}"/>
              </a:ext>
            </a:extLst>
          </p:cNvPr>
          <p:cNvPicPr>
            <a:picLocks noChangeAspect="1"/>
          </p:cNvPicPr>
          <p:nvPr/>
        </p:nvPicPr>
        <p:blipFill rotWithShape="1">
          <a:blip r:embed="rId2"/>
          <a:srcRect l="23363" t="19498" r="12815" b="35449"/>
          <a:stretch>
            <a:fillRect/>
          </a:stretch>
        </p:blipFill>
        <p:spPr bwMode="auto">
          <a:xfrm>
            <a:off x="6455111" y="1677749"/>
            <a:ext cx="5308100" cy="4846320"/>
          </a:xfrm>
          <a:prstGeom prst="rect">
            <a:avLst/>
          </a:prstGeom>
          <a:ln>
            <a:noFill/>
          </a:ln>
          <a:extLst>
            <a:ext uri="{53640926-AAD7-44D8-BBD7-CCE9431645EC}">
              <a14:shadowObscured xmlns:a14="http://schemas.microsoft.com/office/drawing/2010/main"/>
            </a:ext>
          </a:extLst>
        </p:spPr>
      </p:pic>
      <p:sp>
        <p:nvSpPr>
          <p:cNvPr id="11" name="Slide Number Placeholder 3">
            <a:extLst>
              <a:ext uri="{FF2B5EF4-FFF2-40B4-BE49-F238E27FC236}">
                <a16:creationId xmlns:a16="http://schemas.microsoft.com/office/drawing/2014/main" id="{FB0A75FD-9020-2771-CD65-5B58B7E31159}"/>
              </a:ext>
            </a:extLst>
          </p:cNvPr>
          <p:cNvSpPr>
            <a:spLocks noGrp="1"/>
          </p:cNvSpPr>
          <p:nvPr>
            <p:ph type="sldNum" sz="quarter" idx="12"/>
          </p:nvPr>
        </p:nvSpPr>
        <p:spPr>
          <a:xfrm>
            <a:off x="11003280" y="6403182"/>
            <a:ext cx="1188720" cy="457200"/>
          </a:xfrm>
          <a:solidFill>
            <a:schemeClr val="tx2">
              <a:lumMod val="50000"/>
              <a:lumOff val="50000"/>
            </a:schemeClr>
          </a:solidFill>
        </p:spPr>
        <p:txBody>
          <a:bodyPr/>
          <a:lstStyle/>
          <a:p>
            <a:pPr algn="ctr"/>
            <a:fld id="{F01E93EA-1FFC-2442-9175-2448D109E5BF}" type="slidenum">
              <a:rPr lang="en-US" sz="1600" smtClean="0">
                <a:solidFill>
                  <a:schemeClr val="bg1"/>
                </a:solidFill>
                <a:latin typeface="Calibri" panose="020F0502020204030204" pitchFamily="34" charset="0"/>
                <a:cs typeface="Calibri" panose="020F0502020204030204" pitchFamily="34" charset="0"/>
              </a:rPr>
              <a:pPr algn="ctr"/>
              <a:t>5</a:t>
            </a:fld>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0933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596</TotalTime>
  <Words>241</Words>
  <Application>Microsoft Macintosh PowerPoint</Application>
  <PresentationFormat>Widescreen</PresentationFormat>
  <Paragraphs>27</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Problem Statement</vt:lpstr>
      <vt:lpstr>Proposed Solution</vt:lpstr>
      <vt:lpstr>Proposed Solution (Continued)</vt:lpstr>
      <vt:lpstr>Use-Case Diagram: Heat 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Denise Lintereur</dc:creator>
  <cp:lastModifiedBy>Denise Lintereur</cp:lastModifiedBy>
  <cp:revision>657</cp:revision>
  <dcterms:created xsi:type="dcterms:W3CDTF">2026-02-12T01:31:45Z</dcterms:created>
  <dcterms:modified xsi:type="dcterms:W3CDTF">2026-09-13T00:35:41Z</dcterms:modified>
</cp:coreProperties>
</file>